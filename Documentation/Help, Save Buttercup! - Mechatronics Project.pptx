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71" r:id="rId4"/>
    <p:sldId id="272" r:id="rId5"/>
    <p:sldId id="270" r:id="rId6"/>
    <p:sldId id="273" r:id="rId7"/>
    <p:sldId id="258" r:id="rId8"/>
    <p:sldId id="259" r:id="rId9"/>
    <p:sldId id="261" r:id="rId10"/>
    <p:sldId id="262" r:id="rId11"/>
    <p:sldId id="264" r:id="rId12"/>
    <p:sldId id="274" r:id="rId13"/>
    <p:sldId id="275" r:id="rId14"/>
    <p:sldId id="278" r:id="rId15"/>
    <p:sldId id="276" r:id="rId16"/>
    <p:sldId id="277" r:id="rId17"/>
    <p:sldId id="267" r:id="rId18"/>
  </p:sldIdLst>
  <p:sldSz cx="12192000" cy="6858000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Public Sans" panose="020B0604020202020204" charset="0"/>
      <p:regular r:id="rId24"/>
      <p:bold r:id="rId25"/>
      <p:italic r:id="rId26"/>
      <p:boldItalic r:id="rId27"/>
    </p:embeddedFont>
    <p:embeddedFont>
      <p:font typeface="Roboto Mono" panose="00000009000000000000" pitchFamily="49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1EE38C8-9FC9-45F6-8103-BEC088559F84}">
  <a:tblStyle styleId="{E1EE38C8-9FC9-45F6-8103-BEC088559F8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FD440419-1E5D-9814-091D-6B57E28E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D7A007B5-7202-F3B2-9718-0535160170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6994E8D6-ECF1-776C-97FF-3F4637EC60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5890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FBE1042B-AC6A-73F8-34EA-785372CB8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C368BE4-C954-396F-8D9F-8F4C71067B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5D905402-FB5B-FCD9-911E-34C4723432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3877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7854BDC4-DD2C-302F-9AF4-CD156A9A3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AF240C5-A4C5-27DF-7E41-9FA3CD4DFF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943623DB-529C-E157-DB68-637B4023E1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3600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57F06FE6-AFA7-FF0E-2A4A-30BB2F641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A8783877-247F-4AD2-7DEB-8A2913CD65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83D6EBC1-2485-BE7C-4EE7-CE8CC9CBEB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039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95F410D7-5E6A-63E7-EB67-6B5FBC62B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C2C4960-A582-F4F4-89FC-E70CF5A6A9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A021B5F0-E968-D3D7-0E4A-4851DF3679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0826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828D5623-1E59-1B3F-A49A-22A2CAAC2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43D326D5-6685-775D-73A7-C5BB5AF826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E59A8B3F-7570-79AC-28CE-3DDC50CDAC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39264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983C2E58-D4EE-2748-986B-59B1B2672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51E2C87-7468-D1D7-40E5-9CEB3DC950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214D012D-C460-E436-ABDD-023BEE63AA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93949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258936AD-5723-D3A2-CBD9-1C7B7114D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227606F7-16A6-8F21-0124-19904E1027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2B62DB1A-8CB1-FECE-FB5C-AB875A103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07267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D85B3834-BDB8-02E8-FA3F-A06FA9AA3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91E72FEC-1846-56CD-92B7-ED2CEAA170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E0C21563-5243-C79B-5BD3-9E537068DC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03673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2D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600450" y="571500"/>
            <a:ext cx="5740717" cy="1718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HELP, SAVE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15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BUTTERCUP!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3600450" y="2480071"/>
            <a:ext cx="54673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A8FD1"/>
                </a:solidFill>
                <a:latin typeface="Roboto Mono"/>
                <a:ea typeface="Roboto Mono"/>
                <a:cs typeface="Roboto Mono"/>
                <a:sym typeface="Roboto Mono"/>
              </a:rPr>
              <a:t>Mechatronic Ball Sorting &amp; Game Ecosystem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600450" y="3417242"/>
            <a:ext cx="5467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Engineering Project Defense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600450" y="3893492"/>
            <a:ext cx="5467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A8FD1"/>
                </a:solidFill>
                <a:latin typeface="Public Sans"/>
                <a:ea typeface="Public Sans"/>
                <a:cs typeface="Public Sans"/>
                <a:sym typeface="Public Sans"/>
              </a:rPr>
              <a:t>MCT231 · Faculty of Engineering · Ain Shams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2D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6650831" y="5423327"/>
            <a:ext cx="5300662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500" dirty="0" err="1">
                <a:solidFill>
                  <a:srgbClr val="D1D8E0"/>
                </a:solidFill>
                <a:latin typeface="Public Sans"/>
              </a:rPr>
              <a:t>Mowahed</a:t>
            </a:r>
            <a:r>
              <a:rPr lang="en-US" sz="1500" dirty="0">
                <a:solidFill>
                  <a:srgbClr val="D1D8E0"/>
                </a:solidFill>
                <a:latin typeface="Public Sans"/>
              </a:rPr>
              <a:t> Mohamed </a:t>
            </a:r>
            <a:r>
              <a:rPr lang="en-US" sz="1500" dirty="0" err="1">
                <a:solidFill>
                  <a:srgbClr val="D1D8E0"/>
                </a:solidFill>
                <a:latin typeface="Public Sans"/>
              </a:rPr>
              <a:t>Mohamed</a:t>
            </a:r>
            <a:r>
              <a:rPr lang="en-US" sz="1500" dirty="0">
                <a:solidFill>
                  <a:srgbClr val="D1D8E0"/>
                </a:solidFill>
                <a:latin typeface="Public Sans"/>
              </a:rPr>
              <a:t> </a:t>
            </a:r>
            <a:r>
              <a:rPr lang="en-US" sz="1500" dirty="0" err="1">
                <a:solidFill>
                  <a:srgbClr val="D1D8E0"/>
                </a:solidFill>
                <a:latin typeface="Public Sans"/>
              </a:rPr>
              <a:t>Mohamed</a:t>
            </a:r>
            <a:r>
              <a:rPr lang="en-US" sz="1500" dirty="0">
                <a:solidFill>
                  <a:srgbClr val="D1D8E0"/>
                </a:solidFill>
                <a:latin typeface="Public Sans"/>
              </a:rPr>
              <a:t>            24P0302 </a:t>
            </a:r>
            <a:br>
              <a:rPr lang="en-US" sz="1500" dirty="0">
                <a:solidFill>
                  <a:srgbClr val="D1D8E0"/>
                </a:solidFill>
                <a:latin typeface="Public Sans"/>
              </a:rPr>
            </a:br>
            <a:r>
              <a:rPr lang="en-US" sz="1500" dirty="0">
                <a:solidFill>
                  <a:srgbClr val="D1D8E0"/>
                </a:solidFill>
                <a:latin typeface="Public Sans"/>
              </a:rPr>
              <a:t>Ahmed Mohammed Youssef Ibrahim </a:t>
            </a:r>
            <a:r>
              <a:rPr lang="en-US" sz="1500" dirty="0" err="1">
                <a:solidFill>
                  <a:srgbClr val="D1D8E0"/>
                </a:solidFill>
                <a:latin typeface="Public Sans"/>
              </a:rPr>
              <a:t>Eidarous</a:t>
            </a:r>
            <a:r>
              <a:rPr lang="en-US" sz="1500" dirty="0">
                <a:solidFill>
                  <a:srgbClr val="D1D8E0"/>
                </a:solidFill>
                <a:latin typeface="Public Sans"/>
              </a:rPr>
              <a:t>    24P0079 Abdulrahman Khaled Ahmed Elish                          24P0465 </a:t>
            </a:r>
            <a:br>
              <a:rPr lang="en-US" sz="1500" dirty="0">
                <a:solidFill>
                  <a:srgbClr val="D1D8E0"/>
                </a:solidFill>
                <a:latin typeface="Public Sans"/>
              </a:rPr>
            </a:br>
            <a:r>
              <a:rPr lang="en-US" sz="1500" dirty="0">
                <a:solidFill>
                  <a:srgbClr val="D1D8E0"/>
                </a:solidFill>
                <a:latin typeface="Public Sans"/>
              </a:rPr>
              <a:t>Gana Khalid Abdelwahab                                           24P0251   </a:t>
            </a:r>
            <a:br>
              <a:rPr lang="en-US" sz="1500" dirty="0">
                <a:solidFill>
                  <a:srgbClr val="D1D8E0"/>
                </a:solidFill>
                <a:latin typeface="Public Sans"/>
              </a:rPr>
            </a:br>
            <a:r>
              <a:rPr lang="en-US" sz="1500" dirty="0">
                <a:solidFill>
                  <a:srgbClr val="D1D8E0"/>
                </a:solidFill>
                <a:latin typeface="Public Sans"/>
              </a:rPr>
              <a:t>Yehia Mohammed Fawzy Ebrahim Emera              24P0322 </a:t>
            </a:r>
            <a:endParaRPr sz="1500" dirty="0">
              <a:solidFill>
                <a:srgbClr val="D1D8E0"/>
              </a:solidFill>
              <a:latin typeface="Public Sans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000125" y="571500"/>
            <a:ext cx="1095136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3F0DF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 dirty="0"/>
          </a:p>
        </p:txBody>
      </p:sp>
      <p:sp>
        <p:nvSpPr>
          <p:cNvPr id="100" name="Google Shape;100;p14"/>
          <p:cNvSpPr/>
          <p:nvPr/>
        </p:nvSpPr>
        <p:spPr>
          <a:xfrm>
            <a:off x="762000" y="571500"/>
            <a:ext cx="57150" cy="447675"/>
          </a:xfrm>
          <a:prstGeom prst="rect">
            <a:avLst/>
          </a:prstGeom>
          <a:solidFill>
            <a:srgbClr val="3A8FD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AA1120-5D8C-0D8F-1D96-B1FAB1B4E178}"/>
              </a:ext>
            </a:extLst>
          </p:cNvPr>
          <p:cNvSpPr txBox="1"/>
          <p:nvPr/>
        </p:nvSpPr>
        <p:spPr>
          <a:xfrm>
            <a:off x="790575" y="2008505"/>
            <a:ext cx="7109841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ublic Sans" panose="020B0604020202020204" charset="0"/>
              </a:rPr>
              <a:t>"</a:t>
            </a:r>
            <a:r>
              <a:rPr lang="en-US" sz="1500" dirty="0">
                <a:solidFill>
                  <a:schemeClr val="bg1"/>
                </a:solidFill>
                <a:latin typeface="Public Sans" panose="020B0604020202020204" charset="0"/>
              </a:rPr>
              <a:t>Help. Save Buttercup!" is an interactive, gamified mechatronic toy that turns standard arithmetic practice into a.. physical rescue mission.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325A06-2A1C-754D-ADA9-1E9DA7E02BEE}"/>
              </a:ext>
            </a:extLst>
          </p:cNvPr>
          <p:cNvSpPr txBox="1"/>
          <p:nvPr/>
        </p:nvSpPr>
        <p:spPr>
          <a:xfrm>
            <a:off x="819150" y="3863122"/>
            <a:ext cx="778764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Public Sans" panose="020B0604020202020204" charset="0"/>
              </a:rPr>
              <a:t>This game tackles the loss in engagement children experience when learning math through repetitive paper worksheets and assignments by transforming the process into a rewarding play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2D"/>
        </a:solid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C216C6DF-7895-35EC-ABD5-0FBA23321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5F94718C-F84B-58D3-5925-8B1443BF3A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FA04F264-B58D-7A8B-E9E8-CF19B48940AC}"/>
              </a:ext>
            </a:extLst>
          </p:cNvPr>
          <p:cNvSpPr txBox="1"/>
          <p:nvPr/>
        </p:nvSpPr>
        <p:spPr>
          <a:xfrm>
            <a:off x="5102352" y="1415927"/>
            <a:ext cx="646480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500" dirty="0">
                <a:solidFill>
                  <a:schemeClr val="bg1"/>
                </a:solidFill>
                <a:latin typeface="Public Sans" panose="020B0604020202020204" charset="0"/>
              </a:rPr>
              <a:t>Children in the age range from 2 to 10 years old require physical interaction to maintain focus on educational tasks; additionally, having a clear goal that lets them know what success is like minimizes frustration and off-task behaviors.</a:t>
            </a:r>
            <a:endParaRPr sz="1500" dirty="0">
              <a:solidFill>
                <a:schemeClr val="bg1"/>
              </a:solidFill>
              <a:latin typeface="Public Sans" panose="020B0604020202020204" charset="0"/>
            </a:endParaRPr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C1391AFE-F6E9-53FF-1B41-143971B58180}"/>
              </a:ext>
            </a:extLst>
          </p:cNvPr>
          <p:cNvSpPr txBox="1"/>
          <p:nvPr/>
        </p:nvSpPr>
        <p:spPr>
          <a:xfrm>
            <a:off x="954405" y="571500"/>
            <a:ext cx="1095136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3F0DF"/>
                </a:solidFill>
                <a:latin typeface="Montserrat"/>
                <a:ea typeface="Montserrat"/>
                <a:cs typeface="Montserrat"/>
                <a:sym typeface="Montserrat"/>
              </a:rPr>
              <a:t>User Research</a:t>
            </a:r>
            <a:endParaRPr dirty="0"/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229F9972-A5B8-DF84-8760-CF7A8A94B1C5}"/>
              </a:ext>
            </a:extLst>
          </p:cNvPr>
          <p:cNvSpPr/>
          <p:nvPr/>
        </p:nvSpPr>
        <p:spPr>
          <a:xfrm>
            <a:off x="762000" y="571500"/>
            <a:ext cx="57150" cy="447675"/>
          </a:xfrm>
          <a:prstGeom prst="rect">
            <a:avLst/>
          </a:prstGeom>
          <a:solidFill>
            <a:srgbClr val="3A8FD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08C33E-AEB3-4E16-6483-1EBD0A7CBB69}"/>
              </a:ext>
            </a:extLst>
          </p:cNvPr>
          <p:cNvSpPr txBox="1"/>
          <p:nvPr/>
        </p:nvSpPr>
        <p:spPr>
          <a:xfrm>
            <a:off x="5102352" y="3075134"/>
            <a:ext cx="7348728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Public Sans" panose="020B0604020202020204" charset="0"/>
              </a:rPr>
              <a:t>After careful considerations we decided to map specific math operations to physical ball colors (Blue for Addition, Red for Multiplication) and made a clear target goal ,that is to deplete Mojo JoJo 10 Hp Bar, to the feedback loop to maximize retention and engagement.</a:t>
            </a:r>
          </a:p>
          <a:p>
            <a:endParaRPr lang="en-US" sz="1500" dirty="0">
              <a:solidFill>
                <a:schemeClr val="bg1"/>
              </a:solidFill>
              <a:latin typeface="Public Sans" panose="020B0604020202020204" charset="0"/>
            </a:endParaRPr>
          </a:p>
        </p:txBody>
      </p:sp>
      <p:pic>
        <p:nvPicPr>
          <p:cNvPr id="2" name="Picture 1" descr="Mojo Jojo | Fictional Characters | Dictionary.com">
            <a:extLst>
              <a:ext uri="{FF2B5EF4-FFF2-40B4-BE49-F238E27FC236}">
                <a16:creationId xmlns:a16="http://schemas.microsoft.com/office/drawing/2014/main" id="{3984D51A-DB08-6DF8-5C18-AB6EAAC86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405" y="1460754"/>
            <a:ext cx="2630043" cy="2630043"/>
          </a:xfrm>
          <a:prstGeom prst="rect">
            <a:avLst/>
          </a:prstGeom>
        </p:spPr>
      </p:pic>
      <p:pic>
        <p:nvPicPr>
          <p:cNvPr id="4" name="Picture 3" descr="The Powerpuff Girls - Wikipedia">
            <a:extLst>
              <a:ext uri="{FF2B5EF4-FFF2-40B4-BE49-F238E27FC236}">
                <a16:creationId xmlns:a16="http://schemas.microsoft.com/office/drawing/2014/main" id="{5A243508-9DA9-3EA2-196D-58253963D2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0470" y="4518744"/>
            <a:ext cx="3260217" cy="215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008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2D"/>
        </a:solid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077F2319-D372-BF9D-8BA3-8B8399523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06C2A0A2-77DF-4DF6-6F3D-4AF016386A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282B1B09-6590-D7DC-178B-B4C3C7C8C5A1}"/>
              </a:ext>
            </a:extLst>
          </p:cNvPr>
          <p:cNvSpPr txBox="1"/>
          <p:nvPr/>
        </p:nvSpPr>
        <p:spPr>
          <a:xfrm>
            <a:off x="819150" y="1974723"/>
            <a:ext cx="6596634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500" dirty="0">
                <a:solidFill>
                  <a:schemeClr val="bg1"/>
                </a:solidFill>
                <a:latin typeface="Public Sans" panose="020B0604020202020204" charset="0"/>
              </a:rPr>
              <a:t>Engineering a fully autonomous, closed-loop mechanical system that seamlessly synchronizes with a digital educational interface, without requiring adult intervention to reset</a:t>
            </a:r>
            <a:r>
              <a:rPr lang="en-US" sz="2000" dirty="0">
                <a:solidFill>
                  <a:schemeClr val="bg1"/>
                </a:solidFill>
                <a:latin typeface="Public Sans" panose="020B0604020202020204" charset="0"/>
              </a:rPr>
              <a:t>.</a:t>
            </a:r>
            <a:endParaRPr sz="2000" dirty="0">
              <a:solidFill>
                <a:schemeClr val="bg1"/>
              </a:solidFill>
              <a:latin typeface="Public Sans" panose="020B0604020202020204" charset="0"/>
            </a:endParaRPr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64FFBBAE-FCF5-50D2-64CC-2B0D422B3EA2}"/>
              </a:ext>
            </a:extLst>
          </p:cNvPr>
          <p:cNvSpPr txBox="1"/>
          <p:nvPr/>
        </p:nvSpPr>
        <p:spPr>
          <a:xfrm>
            <a:off x="954405" y="571500"/>
            <a:ext cx="1095136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850" b="1" dirty="0">
                <a:solidFill>
                  <a:srgbClr val="F3F0DF"/>
                </a:solidFill>
                <a:latin typeface="Montserrat"/>
              </a:rPr>
              <a:t>Design Challenge</a:t>
            </a:r>
            <a:endParaRPr sz="2850" b="1" dirty="0">
              <a:solidFill>
                <a:srgbClr val="F3F0DF"/>
              </a:solidFill>
              <a:latin typeface="Montserrat"/>
            </a:endParaRPr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40D1A0F7-0C87-AA97-8178-5FE92AA5846D}"/>
              </a:ext>
            </a:extLst>
          </p:cNvPr>
          <p:cNvSpPr/>
          <p:nvPr/>
        </p:nvSpPr>
        <p:spPr>
          <a:xfrm>
            <a:off x="762000" y="571500"/>
            <a:ext cx="57150" cy="447675"/>
          </a:xfrm>
          <a:prstGeom prst="rect">
            <a:avLst/>
          </a:prstGeom>
          <a:solidFill>
            <a:srgbClr val="3A8FD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9EA6BE-E082-3F0E-ACD2-1FBE6F0C26F1}"/>
              </a:ext>
            </a:extLst>
          </p:cNvPr>
          <p:cNvSpPr txBox="1"/>
          <p:nvPr/>
        </p:nvSpPr>
        <p:spPr>
          <a:xfrm>
            <a:off x="762000" y="3606005"/>
            <a:ext cx="58765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Public Sans" panose="020B0604020202020204" charset="0"/>
              </a:rPr>
              <a:t>If a toy jams or requires constant manual reloading, the child's immersion breaks and the educational value is lost. A self-recycling loop ensures the user can focus entirely on the math challenges and the narrative.</a:t>
            </a:r>
          </a:p>
        </p:txBody>
      </p:sp>
      <p:pic>
        <p:nvPicPr>
          <p:cNvPr id="2" name="Picture 1" descr="Educational games and toys for kids: Are they effective?">
            <a:extLst>
              <a:ext uri="{FF2B5EF4-FFF2-40B4-BE49-F238E27FC236}">
                <a16:creationId xmlns:a16="http://schemas.microsoft.com/office/drawing/2014/main" id="{A4D87257-0D50-2726-B91B-4CC4F5AAD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0564" y="2616681"/>
            <a:ext cx="3592286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458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2D"/>
        </a:solid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E26F3930-3A8F-40A6-D2EF-FD419EECA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53835EEF-45DF-63C4-1851-D2A3C6A4C5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A3BA2392-07EE-F063-B00F-DA268C22777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419350"/>
            <a:ext cx="5048250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47CA9F1F-8CBC-BE99-1447-2955B10AA912}"/>
              </a:ext>
            </a:extLst>
          </p:cNvPr>
          <p:cNvSpPr txBox="1"/>
          <p:nvPr/>
        </p:nvSpPr>
        <p:spPr>
          <a:xfrm>
            <a:off x="762000" y="2047875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A8FD1"/>
                </a:solidFill>
                <a:latin typeface="Montserrat"/>
                <a:ea typeface="Montserrat"/>
                <a:cs typeface="Montserrat"/>
                <a:sym typeface="Montserrat"/>
              </a:rPr>
              <a:t>Mojo Jojo's Hostage Situation</a:t>
            </a:r>
            <a:endParaRPr/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37A28CD9-C865-EA4D-FF70-D45A63CF7457}"/>
              </a:ext>
            </a:extLst>
          </p:cNvPr>
          <p:cNvSpPr txBox="1"/>
          <p:nvPr/>
        </p:nvSpPr>
        <p:spPr>
          <a:xfrm>
            <a:off x="762000" y="2562225"/>
            <a:ext cx="50482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Townsville's toughest fighter, </a:t>
            </a:r>
            <a:r>
              <a:rPr lang="en-US" sz="1500" b="1" i="0" u="none" strike="noStrike" cap="none" dirty="0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Buttercup</a:t>
            </a:r>
            <a:r>
              <a:rPr lang="en-US" sz="1500" b="0" i="0" u="none" strike="noStrike" cap="none" dirty="0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, has been kidnapped by Mojo Jojo. The city's only hope lies in an automated defense system coordinated by her sisters, Blossom and Bubbles.</a:t>
            </a:r>
            <a:endParaRPr dirty="0"/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13E66825-AD43-757F-7332-E72CD4CC50B8}"/>
              </a:ext>
            </a:extLst>
          </p:cNvPr>
          <p:cNvSpPr txBox="1"/>
          <p:nvPr/>
        </p:nvSpPr>
        <p:spPr>
          <a:xfrm>
            <a:off x="762000" y="3971925"/>
            <a:ext cx="50482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This project transforms a traditional mechatronic ball-sorting task into a narrative-driven game experience. Players must engage with the system to solve mathematical challenges and deplete Mojo Jojo’s health points through hardware-software synergy.</a:t>
            </a:r>
            <a:endParaRPr/>
          </a:p>
        </p:txBody>
      </p:sp>
      <p:pic>
        <p:nvPicPr>
          <p:cNvPr id="98" name="Google Shape;98;p14" descr="image.png">
            <a:extLst>
              <a:ext uri="{FF2B5EF4-FFF2-40B4-BE49-F238E27FC236}">
                <a16:creationId xmlns:a16="http://schemas.microsoft.com/office/drawing/2014/main" id="{03B18A81-4C64-33A3-AD17-CD1E1473B5A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428875"/>
            <a:ext cx="502920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D1FE4EDE-715B-783F-1264-7BEE7969ED31}"/>
              </a:ext>
            </a:extLst>
          </p:cNvPr>
          <p:cNvSpPr txBox="1"/>
          <p:nvPr/>
        </p:nvSpPr>
        <p:spPr>
          <a:xfrm>
            <a:off x="1000125" y="571500"/>
            <a:ext cx="1095136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50" b="1" dirty="0">
                <a:solidFill>
                  <a:srgbClr val="F3F0DF"/>
                </a:solidFill>
                <a:latin typeface="Montserrat"/>
              </a:rPr>
              <a:t>Toy Description and Functionality</a:t>
            </a:r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F840E9E6-02FF-7D0E-3536-F3B1B415B4A3}"/>
              </a:ext>
            </a:extLst>
          </p:cNvPr>
          <p:cNvSpPr/>
          <p:nvPr/>
        </p:nvSpPr>
        <p:spPr>
          <a:xfrm>
            <a:off x="762000" y="571500"/>
            <a:ext cx="57150" cy="447675"/>
          </a:xfrm>
          <a:prstGeom prst="rect">
            <a:avLst/>
          </a:prstGeom>
          <a:solidFill>
            <a:srgbClr val="3A8FD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8168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2D"/>
        </a:solid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F1D60E09-2444-DCA8-27B0-D56695D2C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BACED163-9DAA-AB97-CC1F-759BB7731F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89151959-EAC8-22E1-7838-0012DCB56015}"/>
              </a:ext>
            </a:extLst>
          </p:cNvPr>
          <p:cNvSpPr txBox="1"/>
          <p:nvPr/>
        </p:nvSpPr>
        <p:spPr>
          <a:xfrm>
            <a:off x="762000" y="2047875"/>
            <a:ext cx="5300662" cy="23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  <a:latin typeface="Public Sans" panose="020B0604020202020204" charset="0"/>
              </a:rPr>
              <a:t>Mechanical Elements:</a:t>
            </a:r>
          </a:p>
          <a:p>
            <a:r>
              <a:rPr lang="en-US" dirty="0">
                <a:solidFill>
                  <a:schemeClr val="bg1"/>
                </a:solidFill>
                <a:latin typeface="Public Sans" panose="020B0604020202020204" charset="0"/>
              </a:rPr>
              <a:t>Intake &amp; Sorting: A rotating turnstile regulates ball entry. An SG90 Servo actuates a custom 15g claw to physically split and route balls based on their color.</a:t>
            </a:r>
          </a:p>
          <a:p>
            <a:r>
              <a:rPr lang="en-US" dirty="0">
                <a:solidFill>
                  <a:schemeClr val="bg1"/>
                </a:solidFill>
                <a:latin typeface="Public Sans" panose="020B0604020202020204" charset="0"/>
              </a:rPr>
              <a:t>Shooting Mechanism: A stepper motor provides ±45° rotation for aiming at the target boxes, followed by a DC motor that launches the ball.</a:t>
            </a:r>
          </a:p>
          <a:p>
            <a:r>
              <a:rPr lang="en-US" dirty="0">
                <a:solidFill>
                  <a:schemeClr val="bg1"/>
                </a:solidFill>
                <a:latin typeface="Public Sans" panose="020B0604020202020204" charset="0"/>
              </a:rPr>
              <a:t>Electromechanical Support Mechanism: A high-torque servo arm acts as a vertical lifter, translating the balls 40cm upwards to automatically return them to the turnstile.</a:t>
            </a:r>
          </a:p>
          <a:p>
            <a:pPr lvl="0"/>
            <a:endParaRPr dirty="0">
              <a:solidFill>
                <a:schemeClr val="bg1"/>
              </a:solidFill>
              <a:latin typeface="Public Sans" panose="020B0604020202020204" charset="0"/>
            </a:endParaRPr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6A84EA11-D3D8-DF53-6748-017C735F3436}"/>
              </a:ext>
            </a:extLst>
          </p:cNvPr>
          <p:cNvSpPr txBox="1"/>
          <p:nvPr/>
        </p:nvSpPr>
        <p:spPr>
          <a:xfrm>
            <a:off x="863346" y="571500"/>
            <a:ext cx="1095136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850" b="1" dirty="0">
                <a:solidFill>
                  <a:srgbClr val="F3F0DF"/>
                </a:solidFill>
                <a:latin typeface="Montserrat"/>
              </a:rPr>
              <a:t>Toy Description and Functionality</a:t>
            </a:r>
            <a:endParaRPr sz="2850" b="1" dirty="0">
              <a:solidFill>
                <a:srgbClr val="F3F0DF"/>
              </a:solidFill>
              <a:latin typeface="Montserrat"/>
            </a:endParaRPr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35DA7DAA-4547-3D0F-84DA-476A420BA72D}"/>
              </a:ext>
            </a:extLst>
          </p:cNvPr>
          <p:cNvSpPr/>
          <p:nvPr/>
        </p:nvSpPr>
        <p:spPr>
          <a:xfrm>
            <a:off x="762000" y="571500"/>
            <a:ext cx="57150" cy="447675"/>
          </a:xfrm>
          <a:prstGeom prst="rect">
            <a:avLst/>
          </a:prstGeom>
          <a:solidFill>
            <a:srgbClr val="3A8FD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71FA96-9FA2-9DF1-65EC-561328CA83D8}"/>
              </a:ext>
            </a:extLst>
          </p:cNvPr>
          <p:cNvSpPr txBox="1"/>
          <p:nvPr/>
        </p:nvSpPr>
        <p:spPr>
          <a:xfrm>
            <a:off x="2453640" y="4417755"/>
            <a:ext cx="615848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ublic Sans" panose="020B0604020202020204" charset="0"/>
              </a:rPr>
              <a:t>Electrical and Control Elements:</a:t>
            </a:r>
          </a:p>
          <a:p>
            <a:r>
              <a:rPr lang="en-US" dirty="0">
                <a:solidFill>
                  <a:schemeClr val="bg1"/>
                </a:solidFill>
                <a:latin typeface="Public Sans" panose="020B0604020202020204" charset="0"/>
              </a:rPr>
              <a:t>Simulated and mapped using Proteus, the system relies on a Master/Slave Dual-Arduino architecture.</a:t>
            </a:r>
          </a:p>
          <a:p>
            <a:r>
              <a:rPr lang="en-US" dirty="0">
                <a:solidFill>
                  <a:schemeClr val="bg1"/>
                </a:solidFill>
                <a:latin typeface="Public Sans" panose="020B0604020202020204" charset="0"/>
              </a:rPr>
              <a:t>Sensor System: A TCS3200 sensor detects the ball's color to trigger the correct math question. A network of 5 IR sensors tracks the ball's physical location through the turnstile, lifter, and target boxes.</a:t>
            </a:r>
          </a:p>
          <a:p>
            <a:r>
              <a:rPr lang="en-US" dirty="0">
                <a:solidFill>
                  <a:schemeClr val="bg1"/>
                </a:solidFill>
                <a:latin typeface="Public Sans" panose="020B0604020202020204" charset="0"/>
              </a:rPr>
              <a:t>Interaction: An HC-06 Bluetooth module links the physical toy's sensor data to the digital Processing game app on a desktop.</a:t>
            </a:r>
          </a:p>
        </p:txBody>
      </p:sp>
    </p:spTree>
    <p:extLst>
      <p:ext uri="{BB962C8B-B14F-4D97-AF65-F5344CB8AC3E}">
        <p14:creationId xmlns:p14="http://schemas.microsoft.com/office/powerpoint/2010/main" val="64995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2D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/>
          <p:nvPr/>
        </p:nvSpPr>
        <p:spPr>
          <a:xfrm>
            <a:off x="762000" y="2462212"/>
            <a:ext cx="10668000" cy="19050"/>
          </a:xfrm>
          <a:prstGeom prst="rect">
            <a:avLst/>
          </a:prstGeom>
          <a:solidFill>
            <a:srgbClr val="F3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714294" y="2585367"/>
            <a:ext cx="201618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A8FD1"/>
                </a:solidFill>
                <a:latin typeface="Montserrat"/>
                <a:ea typeface="Montserrat"/>
                <a:cs typeface="Montserrat"/>
                <a:sym typeface="Montserrat"/>
              </a:rPr>
              <a:t>1. Intake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761999" y="2899023"/>
            <a:ext cx="192018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Turnstile receives ball from return track.</a:t>
            </a:r>
            <a:endParaRPr dirty="0"/>
          </a:p>
        </p:txBody>
      </p:sp>
      <p:sp>
        <p:nvSpPr>
          <p:cNvPr id="111" name="Google Shape;111;p15"/>
          <p:cNvSpPr txBox="1"/>
          <p:nvPr/>
        </p:nvSpPr>
        <p:spPr>
          <a:xfrm>
            <a:off x="2901176" y="1613521"/>
            <a:ext cx="201618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A8FD1"/>
                </a:solidFill>
                <a:latin typeface="Montserrat"/>
                <a:ea typeface="Montserrat"/>
                <a:cs typeface="Montserrat"/>
                <a:sym typeface="Montserrat"/>
              </a:rPr>
              <a:t>2. Sensing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2949180" y="1879551"/>
            <a:ext cx="192018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TCS3200 identifies ball color (Red/Blue).</a:t>
            </a:r>
            <a:endParaRPr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5087755" y="2585367"/>
            <a:ext cx="201618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A8FD1"/>
                </a:solidFill>
                <a:latin typeface="Montserrat"/>
                <a:ea typeface="Montserrat"/>
                <a:cs typeface="Montserrat"/>
                <a:sym typeface="Montserrat"/>
              </a:rPr>
              <a:t>3. Sorting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5135760" y="2899023"/>
            <a:ext cx="192018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SG90 Claw routes ball based on color.</a:t>
            </a:r>
            <a:endParaRPr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7274635" y="1643286"/>
            <a:ext cx="201618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A8FD1"/>
                </a:solidFill>
                <a:latin typeface="Montserrat"/>
                <a:ea typeface="Montserrat"/>
                <a:cs typeface="Montserrat"/>
                <a:sym typeface="Montserrat"/>
              </a:rPr>
              <a:t>4. Action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7322642" y="1892796"/>
            <a:ext cx="192018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Stepper aims &amp; DC motor launches ball.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9461517" y="2643665"/>
            <a:ext cx="201618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A8FD1"/>
                </a:solidFill>
                <a:latin typeface="Montserrat"/>
                <a:ea typeface="Montserrat"/>
                <a:cs typeface="Montserrat"/>
                <a:sym typeface="Montserrat"/>
              </a:rPr>
              <a:t>5. Lift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509520" y="2881127"/>
            <a:ext cx="192018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High-torque servo recycles ball to top.</a:t>
            </a:r>
            <a:endParaRPr dirty="0"/>
          </a:p>
        </p:txBody>
      </p:sp>
      <p:sp>
        <p:nvSpPr>
          <p:cNvPr id="119" name="Google Shape;119;p15"/>
          <p:cNvSpPr/>
          <p:nvPr/>
        </p:nvSpPr>
        <p:spPr>
          <a:xfrm>
            <a:off x="1626840" y="23669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8365D"/>
          </a:solidFill>
          <a:ln w="38100" cap="flat" cmpd="sng">
            <a:solidFill>
              <a:srgbClr val="001A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3813720" y="23669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8365D"/>
          </a:solidFill>
          <a:ln w="38100" cap="flat" cmpd="sng">
            <a:solidFill>
              <a:srgbClr val="001A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6000601" y="23669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8365D"/>
          </a:solidFill>
          <a:ln w="38100" cap="flat" cmpd="sng">
            <a:solidFill>
              <a:srgbClr val="001A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8187481" y="23669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8365D"/>
          </a:solidFill>
          <a:ln w="38100" cap="flat" cmpd="sng">
            <a:solidFill>
              <a:srgbClr val="001A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10374362" y="23669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8365D"/>
          </a:solidFill>
          <a:ln w="38100" cap="flat" cmpd="sng">
            <a:solidFill>
              <a:srgbClr val="001A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1000125" y="571500"/>
            <a:ext cx="1095136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3F0DF"/>
                </a:solidFill>
                <a:latin typeface="Montserrat"/>
                <a:ea typeface="Montserrat"/>
                <a:cs typeface="Montserrat"/>
                <a:sym typeface="Montserrat"/>
              </a:rPr>
              <a:t>THE CLOSED-LOOP ECOSYSTEM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762000" y="571500"/>
            <a:ext cx="57150" cy="447675"/>
          </a:xfrm>
          <a:prstGeom prst="rect">
            <a:avLst/>
          </a:prstGeom>
          <a:solidFill>
            <a:srgbClr val="3A8FD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3D Satisfying marble balls illusion loop animation on wooden board Close up  53005331 Stock Video at Vecteezy">
            <a:extLst>
              <a:ext uri="{FF2B5EF4-FFF2-40B4-BE49-F238E27FC236}">
                <a16:creationId xmlns:a16="http://schemas.microsoft.com/office/drawing/2014/main" id="{DA9E8297-31B7-EBF2-D2F2-E5EE6665B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2373" y="3964013"/>
            <a:ext cx="4440356" cy="25014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2D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96479"/>
            <a:ext cx="2524125" cy="2302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76625" y="1596479"/>
            <a:ext cx="2524125" cy="2302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1596479"/>
            <a:ext cx="2524125" cy="2302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05875" y="1596479"/>
            <a:ext cx="2524125" cy="230296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898921" y="2558504"/>
            <a:ext cx="225028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A8FD1"/>
                </a:solidFill>
                <a:latin typeface="Montserrat"/>
                <a:ea typeface="Montserrat"/>
                <a:cs typeface="Montserrat"/>
                <a:sym typeface="Montserrat"/>
              </a:rPr>
              <a:t>Ball Turnstile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952500" y="2882354"/>
            <a:ext cx="214312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40mm radius PLA+ sweep rotating 120° in 0.5s for precise intake control.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3613546" y="2558504"/>
            <a:ext cx="225028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A8FD1"/>
                </a:solidFill>
                <a:latin typeface="Montserrat"/>
                <a:ea typeface="Montserrat"/>
                <a:cs typeface="Montserrat"/>
                <a:sym typeface="Montserrat"/>
              </a:rPr>
              <a:t>Sorter Claw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3667125" y="2882354"/>
            <a:ext cx="21431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Custom made 15g claw routing balls to designated shooting reservoirs.</a:t>
            </a: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6328171" y="2558504"/>
            <a:ext cx="225028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A8FD1"/>
                </a:solidFill>
                <a:latin typeface="Montserrat"/>
                <a:ea typeface="Montserrat"/>
                <a:cs typeface="Montserrat"/>
                <a:sym typeface="Montserrat"/>
              </a:rPr>
              <a:t>Shooter Base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381750" y="2882354"/>
            <a:ext cx="214312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Stepper-driven platform offering ±45° aiming precision for targets.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042796" y="2558504"/>
            <a:ext cx="225028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A8FD1"/>
                </a:solidFill>
                <a:latin typeface="Montserrat"/>
                <a:ea typeface="Montserrat"/>
                <a:cs typeface="Montserrat"/>
                <a:sym typeface="Montserrat"/>
              </a:rPr>
              <a:t>Vertical Lift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9096375" y="2882354"/>
            <a:ext cx="214312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40cm vertical translation via high-torque servo arm recycling mechanism.</a:t>
            </a:r>
            <a:endParaRPr/>
          </a:p>
        </p:txBody>
      </p:sp>
      <p:pic>
        <p:nvPicPr>
          <p:cNvPr id="145" name="Google Shape;14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33562" y="194890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72000" y="1948904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62812" y="194890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53625" y="1948904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1000125" y="571500"/>
            <a:ext cx="1095136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3F0DF"/>
                </a:solidFill>
                <a:latin typeface="Montserrat"/>
                <a:ea typeface="Montserrat"/>
                <a:cs typeface="Montserrat"/>
                <a:sym typeface="Montserrat"/>
              </a:rPr>
              <a:t>MECHANICAL ARCHITECTURE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762000" y="571500"/>
            <a:ext cx="57150" cy="447675"/>
          </a:xfrm>
          <a:prstGeom prst="rect">
            <a:avLst/>
          </a:prstGeom>
          <a:solidFill>
            <a:srgbClr val="3A8FD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2D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219325"/>
            <a:ext cx="5048250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691854"/>
            <a:ext cx="5048250" cy="230296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1095375" y="2505075"/>
            <a:ext cx="465058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A8FD1"/>
                </a:solidFill>
                <a:latin typeface="Montserrat"/>
                <a:ea typeface="Montserrat"/>
                <a:cs typeface="Montserrat"/>
                <a:sym typeface="Montserrat"/>
              </a:rPr>
              <a:t>2048 Steps Resolution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095375" y="3019425"/>
            <a:ext cx="44291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The </a:t>
            </a:r>
            <a:r>
              <a:rPr lang="en-US" sz="1500" b="1" i="0" u="none" strike="noStrike" cap="none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28BYJ-48 Stepper Motor</a:t>
            </a:r>
            <a:r>
              <a:rPr lang="en-US" sz="1500" b="0" i="0" u="none" strike="noStrike" cap="none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 provides high torque and precise angular positioning (±1.8°) for the shooter base.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1095375" y="4124325"/>
            <a:ext cx="44291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A high-RPM DC motor propels balls into targets, with trigger timing synchronized via the Processing app interface.</a:t>
            </a:r>
            <a:endParaRPr/>
          </a:p>
        </p:txBody>
      </p:sp>
      <p:pic>
        <p:nvPicPr>
          <p:cNvPr id="174" name="Google Shape;17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2701379"/>
            <a:ext cx="5029200" cy="228391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1000125" y="571500"/>
            <a:ext cx="1095136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3F0DF"/>
                </a:solidFill>
                <a:latin typeface="Montserrat"/>
                <a:ea typeface="Montserrat"/>
                <a:cs typeface="Montserrat"/>
                <a:sym typeface="Montserrat"/>
              </a:rPr>
              <a:t>SHOOTER</a:t>
            </a:r>
            <a:endParaRPr dirty="0"/>
          </a:p>
        </p:txBody>
      </p:sp>
      <p:sp>
        <p:nvSpPr>
          <p:cNvPr id="176" name="Google Shape;176;p18"/>
          <p:cNvSpPr/>
          <p:nvPr/>
        </p:nvSpPr>
        <p:spPr>
          <a:xfrm>
            <a:off x="762000" y="571500"/>
            <a:ext cx="57150" cy="447675"/>
          </a:xfrm>
          <a:prstGeom prst="rect">
            <a:avLst/>
          </a:prstGeom>
          <a:solidFill>
            <a:srgbClr val="3A8FD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2D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400175"/>
            <a:ext cx="4114800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1152525" y="1790700"/>
            <a:ext cx="333375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4A9E5C"/>
                </a:solidFill>
                <a:latin typeface="Roboto Mono"/>
                <a:ea typeface="Roboto Mono"/>
                <a:cs typeface="Roboto Mono"/>
                <a:sym typeface="Roboto Mono"/>
              </a:rPr>
              <a:t>40cm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1152525" y="2838450"/>
            <a:ext cx="33337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3F0DF"/>
                </a:solidFill>
                <a:latin typeface="Public Sans"/>
                <a:ea typeface="Public Sans"/>
                <a:cs typeface="Public Sans"/>
                <a:sym typeface="Public Sans"/>
              </a:rPr>
              <a:t>Lifting Height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5257800" y="1400175"/>
            <a:ext cx="648081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A8FD1"/>
                </a:solidFill>
                <a:latin typeface="Montserrat"/>
                <a:ea typeface="Montserrat"/>
                <a:cs typeface="Montserrat"/>
                <a:sym typeface="Montserrat"/>
              </a:rPr>
              <a:t>High-Efficiency Recycling</a:t>
            </a:r>
            <a:endParaRPr dirty="0"/>
          </a:p>
        </p:txBody>
      </p:sp>
      <p:sp>
        <p:nvSpPr>
          <p:cNvPr id="188" name="Google Shape;188;p19"/>
          <p:cNvSpPr txBox="1"/>
          <p:nvPr/>
        </p:nvSpPr>
        <p:spPr>
          <a:xfrm>
            <a:off x="5257800" y="2057400"/>
            <a:ext cx="6172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The system completes the closed loop by translating balls 40cm vertically back to the intake turnstile. This is achieved via a dedicated IR-triggered high-torque servo mechanism.</a:t>
            </a:r>
            <a:endParaRPr dirty="0"/>
          </a:p>
        </p:txBody>
      </p:sp>
      <p:sp>
        <p:nvSpPr>
          <p:cNvPr id="189" name="Google Shape;189;p19"/>
          <p:cNvSpPr txBox="1"/>
          <p:nvPr/>
        </p:nvSpPr>
        <p:spPr>
          <a:xfrm>
            <a:off x="5257800" y="3305175"/>
            <a:ext cx="6172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The i</a:t>
            </a:r>
            <a:r>
              <a:rPr lang="en-US" sz="1500" b="0" i="0" u="none" strike="noStrike" cap="none" dirty="0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ntegration of two IR sensors (at the base and top) ensures the motor only actuates when a ball is present.</a:t>
            </a:r>
            <a:endParaRPr dirty="0"/>
          </a:p>
        </p:txBody>
      </p:sp>
      <p:sp>
        <p:nvSpPr>
          <p:cNvPr id="190" name="Google Shape;190;p19"/>
          <p:cNvSpPr txBox="1"/>
          <p:nvPr/>
        </p:nvSpPr>
        <p:spPr>
          <a:xfrm>
            <a:off x="1000125" y="571500"/>
            <a:ext cx="1095136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3F0DF"/>
                </a:solidFill>
                <a:latin typeface="Montserrat"/>
                <a:ea typeface="Montserrat"/>
                <a:cs typeface="Montserrat"/>
                <a:sym typeface="Montserrat"/>
              </a:rPr>
              <a:t>Lifter</a:t>
            </a:r>
            <a:endParaRPr dirty="0"/>
          </a:p>
        </p:txBody>
      </p:sp>
      <p:sp>
        <p:nvSpPr>
          <p:cNvPr id="191" name="Google Shape;191;p19"/>
          <p:cNvSpPr/>
          <p:nvPr/>
        </p:nvSpPr>
        <p:spPr>
          <a:xfrm>
            <a:off x="762000" y="571500"/>
            <a:ext cx="57150" cy="447675"/>
          </a:xfrm>
          <a:prstGeom prst="rect">
            <a:avLst/>
          </a:prstGeom>
          <a:solidFill>
            <a:srgbClr val="3A8FD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2D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1190625" y="1738312"/>
            <a:ext cx="4619625" cy="126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Blossom (Red Ball)</a:t>
            </a:r>
            <a:r>
              <a:rPr lang="en-US" sz="1500" b="0" i="0" u="none" strike="noStrike" cap="none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 Multiplication prompts. Success deals -2 HP damage to Mojo Jojo. Higher difficulty, higher reward.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1190625" y="3243262"/>
            <a:ext cx="4619625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Bubbles (Blue Ball)</a:t>
            </a:r>
            <a:r>
              <a:rPr lang="en-US" sz="1500" b="0" i="0" u="none" strike="noStrike" cap="none" dirty="0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 Addition prompts. Success deals -1 HP damage. Reliable and steady progress toward the goal.</a:t>
            </a:r>
            <a:endParaRPr dirty="0"/>
          </a:p>
        </p:txBody>
      </p:sp>
      <p:sp>
        <p:nvSpPr>
          <p:cNvPr id="210" name="Google Shape;210;p21"/>
          <p:cNvSpPr txBox="1"/>
          <p:nvPr/>
        </p:nvSpPr>
        <p:spPr>
          <a:xfrm>
            <a:off x="1190625" y="4443412"/>
            <a:ext cx="4619625" cy="126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Winning State</a:t>
            </a:r>
            <a:r>
              <a:rPr lang="en-US" sz="1500" b="0" i="0" u="none" strike="noStrike" cap="none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 10 HP boss bar tracking. Real-time feedback on 16x2 LCD and Processing UI upon Mojo Jojo's defeat.</a:t>
            </a:r>
            <a:endParaRPr/>
          </a:p>
        </p:txBody>
      </p:sp>
      <p:pic>
        <p:nvPicPr>
          <p:cNvPr id="212" name="Google Shape;21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764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281362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481512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1000125" y="571500"/>
            <a:ext cx="1095136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3F0DF"/>
                </a:solidFill>
                <a:latin typeface="Montserrat"/>
                <a:ea typeface="Montserrat"/>
                <a:cs typeface="Montserrat"/>
                <a:sym typeface="Montserrat"/>
              </a:rPr>
              <a:t>Game Logic</a:t>
            </a:r>
            <a:endParaRPr dirty="0"/>
          </a:p>
        </p:txBody>
      </p:sp>
      <p:sp>
        <p:nvSpPr>
          <p:cNvPr id="216" name="Google Shape;216;p21"/>
          <p:cNvSpPr/>
          <p:nvPr/>
        </p:nvSpPr>
        <p:spPr>
          <a:xfrm>
            <a:off x="762000" y="571500"/>
            <a:ext cx="57150" cy="447675"/>
          </a:xfrm>
          <a:prstGeom prst="rect">
            <a:avLst/>
          </a:prstGeom>
          <a:solidFill>
            <a:srgbClr val="3A8FD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CC6A43A2-07DF-E735-8C40-F3F6CB09B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" name="Rectangle 104">
            <a:extLst>
              <a:ext uri="{FF2B5EF4-FFF2-40B4-BE49-F238E27FC236}">
                <a16:creationId xmlns:a16="http://schemas.microsoft.com/office/drawing/2014/main" id="{99F1FFA9-D672-408C-9220-ADEEC6ABD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E5DDFA7E-709E-FA9B-7333-A0B7E53796BC}"/>
              </a:ext>
            </a:extLst>
          </p:cNvPr>
          <p:cNvSpPr txBox="1"/>
          <p:nvPr/>
        </p:nvSpPr>
        <p:spPr>
          <a:xfrm>
            <a:off x="838201" y="365125"/>
            <a:ext cx="3816095" cy="193807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Prototyping and Iteration</a:t>
            </a: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3E53ABA7-59C2-84A5-CFCE-7EFCF065BC3A}"/>
              </a:ext>
            </a:extLst>
          </p:cNvPr>
          <p:cNvSpPr txBox="1"/>
          <p:nvPr/>
        </p:nvSpPr>
        <p:spPr>
          <a:xfrm>
            <a:off x="838201" y="2482589"/>
            <a:ext cx="3816096" cy="3694373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physical build utilized PLA+ printed parts, Wooden parts manufactured by laser cutting, standard servos, and a unified 12V power supply.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were several iterations to the lifting mechanism in our project; at the start it was a conveyor belt but midway through we realized that it was hard to implement at our skill level and knowledge.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After that we used a lifting arm with a servo motor. After some trials we realized that the mechanical connections holding the servo motor and the arm were not applicable so finally we changed it to our current mechanism</a:t>
            </a:r>
          </a:p>
        </p:txBody>
      </p:sp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FD332B73-8DD4-5413-CB2A-A509BBFB7084}"/>
              </a:ext>
            </a:extLst>
          </p:cNvPr>
          <p:cNvPicPr preferRelativeResize="0"/>
          <p:nvPr/>
        </p:nvPicPr>
        <p:blipFill rotWithShape="1">
          <a:blip r:embed="rId3"/>
          <a:srcRect t="4848" r="-1" b="5030"/>
          <a:stretch>
            <a:fillRect/>
          </a:stretch>
        </p:blipFill>
        <p:spPr>
          <a:xfrm>
            <a:off x="4904316" y="-4"/>
            <a:ext cx="7287684" cy="3694372"/>
          </a:xfrm>
          <a:custGeom>
            <a:avLst/>
            <a:gdLst/>
            <a:ahLst/>
            <a:cxnLst/>
            <a:rect l="l" t="t" r="r" b="b"/>
            <a:pathLst>
              <a:path w="7287684" h="3694372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93CBAE-B16E-651E-B251-3A43EAD705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936" b="12189"/>
          <a:stretch>
            <a:fillRect/>
          </a:stretch>
        </p:blipFill>
        <p:spPr>
          <a:xfrm>
            <a:off x="4726728" y="3802961"/>
            <a:ext cx="7472381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</p:pic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3EB5023A-3D0E-03A2-D3C9-57A40596B62A}"/>
              </a:ext>
            </a:extLst>
          </p:cNvPr>
          <p:cNvSpPr/>
          <p:nvPr/>
        </p:nvSpPr>
        <p:spPr>
          <a:xfrm>
            <a:off x="762000" y="571500"/>
            <a:ext cx="57150" cy="447675"/>
          </a:xfrm>
          <a:prstGeom prst="rect">
            <a:avLst/>
          </a:prstGeom>
          <a:solidFill>
            <a:srgbClr val="3A8FD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97444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2D"/>
        </a:solid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1AC4C2DC-0DF9-5A09-0345-FCF97B007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0B3D20B4-3DE2-3EAB-373F-F3925F6702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123CA728-8E5D-A5F9-0D41-0FB97775DB78}"/>
              </a:ext>
            </a:extLst>
          </p:cNvPr>
          <p:cNvSpPr txBox="1"/>
          <p:nvPr/>
        </p:nvSpPr>
        <p:spPr>
          <a:xfrm>
            <a:off x="762000" y="2047875"/>
            <a:ext cx="5300662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ublic Sans" panose="020B0604020202020204" charset="0"/>
              </a:rPr>
              <a:t>Low Voltage: </a:t>
            </a:r>
            <a:r>
              <a:rPr lang="en-US" dirty="0">
                <a:solidFill>
                  <a:schemeClr val="bg1"/>
                </a:solidFill>
                <a:latin typeface="Public Sans" panose="020B0604020202020204" charset="0"/>
              </a:rPr>
              <a:t>The entire toy operates on a closed 12V DC power supply which isn’t dangerous even if it was in direct contact with a person</a:t>
            </a:r>
          </a:p>
          <a:p>
            <a:endParaRPr lang="en-US" dirty="0">
              <a:solidFill>
                <a:schemeClr val="bg1"/>
              </a:solidFill>
              <a:latin typeface="Public Sans" panose="020B060402020202020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Public Sans" panose="020B0604020202020204" charset="0"/>
              </a:rPr>
              <a:t>Enclosed Mechanisms: </a:t>
            </a:r>
            <a:r>
              <a:rPr lang="en-US" dirty="0">
                <a:solidFill>
                  <a:schemeClr val="bg1"/>
                </a:solidFill>
                <a:latin typeface="Public Sans" panose="020B0604020202020204" charset="0"/>
              </a:rPr>
              <a:t>The DC shooting motors and high-torque lifter servos are housed within the chassis to prevent the small fingers from being pinched.</a:t>
            </a:r>
          </a:p>
          <a:p>
            <a:endParaRPr lang="en-US" dirty="0">
              <a:solidFill>
                <a:schemeClr val="bg1"/>
              </a:solidFill>
              <a:latin typeface="Public Sans" panose="020B060402020202020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Public Sans" panose="020B0604020202020204" charset="0"/>
              </a:rPr>
              <a:t>Sharp edges : </a:t>
            </a:r>
            <a:r>
              <a:rPr lang="en-US" dirty="0">
                <a:solidFill>
                  <a:schemeClr val="bg1"/>
                </a:solidFill>
                <a:latin typeface="Public Sans" panose="020B0604020202020204" charset="0"/>
              </a:rPr>
              <a:t>There aren’t any sharp edges present in the project</a:t>
            </a:r>
          </a:p>
          <a:p>
            <a:endParaRPr lang="en-US" dirty="0">
              <a:solidFill>
                <a:schemeClr val="bg1"/>
              </a:solidFill>
              <a:latin typeface="Public Sans" panose="020B060402020202020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Public Sans" panose="020B0604020202020204" charset="0"/>
              </a:rPr>
              <a:t>Material Safety: Constructed with non-toxic PLA+.</a:t>
            </a:r>
            <a:endParaRPr dirty="0">
              <a:solidFill>
                <a:schemeClr val="bg1"/>
              </a:solidFill>
              <a:latin typeface="Public Sans" panose="020B0604020202020204" charset="0"/>
            </a:endParaRPr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4E4A153D-8237-1BFC-1DC4-66C870479F04}"/>
              </a:ext>
            </a:extLst>
          </p:cNvPr>
          <p:cNvSpPr txBox="1"/>
          <p:nvPr/>
        </p:nvSpPr>
        <p:spPr>
          <a:xfrm>
            <a:off x="863346" y="571500"/>
            <a:ext cx="1095136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850" b="1" dirty="0">
                <a:solidFill>
                  <a:srgbClr val="F3F0DF"/>
                </a:solidFill>
                <a:latin typeface="Montserrat"/>
              </a:rPr>
              <a:t>Safety Considerations</a:t>
            </a:r>
            <a:endParaRPr sz="2850" b="1" dirty="0">
              <a:solidFill>
                <a:srgbClr val="F3F0DF"/>
              </a:solidFill>
              <a:latin typeface="Montserrat"/>
            </a:endParaRPr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01BC2072-8BE5-FECE-2FCC-A423814636E3}"/>
              </a:ext>
            </a:extLst>
          </p:cNvPr>
          <p:cNvSpPr/>
          <p:nvPr/>
        </p:nvSpPr>
        <p:spPr>
          <a:xfrm>
            <a:off x="762000" y="571500"/>
            <a:ext cx="57150" cy="447675"/>
          </a:xfrm>
          <a:prstGeom prst="rect">
            <a:avLst/>
          </a:prstGeom>
          <a:solidFill>
            <a:srgbClr val="3A8FD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Safety considerations for chemicals">
            <a:extLst>
              <a:ext uri="{FF2B5EF4-FFF2-40B4-BE49-F238E27FC236}">
                <a16:creationId xmlns:a16="http://schemas.microsoft.com/office/drawing/2014/main" id="{8A43F4C6-C4F8-3B8D-422F-6050D911D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720" y="1949291"/>
            <a:ext cx="3981280" cy="295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601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2D"/>
        </a:solid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55832936-DEEA-E314-EDCB-2CB5EDCE1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9CC83FBC-6185-A42E-0ABA-F498CE3D31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10CAC234-90C0-DE5D-6261-8A735CB1D950}"/>
              </a:ext>
            </a:extLst>
          </p:cNvPr>
          <p:cNvSpPr txBox="1"/>
          <p:nvPr/>
        </p:nvSpPr>
        <p:spPr>
          <a:xfrm>
            <a:off x="762000" y="2047875"/>
            <a:ext cx="5300662" cy="23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ublic Sans" panose="020B0604020202020204" charset="0"/>
              </a:rPr>
              <a:t>Educational Benefits: </a:t>
            </a:r>
            <a:r>
              <a:rPr lang="en-US" dirty="0">
                <a:solidFill>
                  <a:schemeClr val="bg1"/>
                </a:solidFill>
                <a:latin typeface="Public Sans" panose="020B0604020202020204" charset="0"/>
              </a:rPr>
              <a:t>The toy dynamically adapts to the physical ball sorted, directly tying tactile play to cognitive math development.</a:t>
            </a:r>
          </a:p>
          <a:p>
            <a:endParaRPr lang="en-US" dirty="0">
              <a:solidFill>
                <a:schemeClr val="bg1"/>
              </a:solidFill>
              <a:latin typeface="Public Sans" panose="020B060402020202020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Public Sans" panose="020B0604020202020204" charset="0"/>
              </a:rPr>
              <a:t>Skill Development:  </a:t>
            </a:r>
          </a:p>
          <a:p>
            <a:r>
              <a:rPr lang="en-US" b="1" dirty="0">
                <a:solidFill>
                  <a:schemeClr val="bg1"/>
                </a:solidFill>
                <a:latin typeface="Public Sans" panose="020B0604020202020204" charset="0"/>
              </a:rPr>
              <a:t>Blue Balls (Bubbles): </a:t>
            </a:r>
            <a:r>
              <a:rPr lang="en-US" dirty="0">
                <a:solidFill>
                  <a:schemeClr val="bg1"/>
                </a:solidFill>
                <a:latin typeface="Public Sans" panose="020B0604020202020204" charset="0"/>
              </a:rPr>
              <a:t>Triggers foundational Addition equations. Success builds math confidence and deals 1 HP of damage to Mojo </a:t>
            </a:r>
            <a:r>
              <a:rPr lang="en-US" dirty="0" err="1">
                <a:solidFill>
                  <a:schemeClr val="bg1"/>
                </a:solidFill>
                <a:latin typeface="Public Sans" panose="020B0604020202020204" charset="0"/>
              </a:rPr>
              <a:t>jojo</a:t>
            </a:r>
            <a:r>
              <a:rPr lang="en-US" dirty="0">
                <a:solidFill>
                  <a:schemeClr val="bg1"/>
                </a:solidFill>
                <a:latin typeface="Public Sans" panose="020B0604020202020204" charset="0"/>
              </a:rPr>
              <a:t>.</a:t>
            </a:r>
          </a:p>
          <a:p>
            <a:endParaRPr lang="en-US" b="1" dirty="0">
              <a:solidFill>
                <a:schemeClr val="bg1"/>
              </a:solidFill>
              <a:latin typeface="Public Sans" panose="020B060402020202020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Public Sans" panose="020B0604020202020204" charset="0"/>
              </a:rPr>
              <a:t>Red Balls (Blossom): </a:t>
            </a:r>
            <a:r>
              <a:rPr lang="en-US" dirty="0">
                <a:solidFill>
                  <a:schemeClr val="bg1"/>
                </a:solidFill>
                <a:latin typeface="Public Sans" panose="020B0604020202020204" charset="0"/>
              </a:rPr>
              <a:t>Triggers Multiplication equations, for a higher reward of 2 HP damage</a:t>
            </a:r>
            <a:r>
              <a:rPr lang="en-US" dirty="0"/>
              <a:t>.</a:t>
            </a:r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04CD507A-0024-2D50-D728-2F69734704DF}"/>
              </a:ext>
            </a:extLst>
          </p:cNvPr>
          <p:cNvSpPr txBox="1"/>
          <p:nvPr/>
        </p:nvSpPr>
        <p:spPr>
          <a:xfrm>
            <a:off x="863346" y="571500"/>
            <a:ext cx="1095136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850" b="1" dirty="0">
                <a:solidFill>
                  <a:srgbClr val="F3F0DF"/>
                </a:solidFill>
                <a:latin typeface="Montserrat"/>
              </a:rPr>
              <a:t>Educational Impact</a:t>
            </a:r>
            <a:endParaRPr sz="2850" b="1" dirty="0">
              <a:solidFill>
                <a:srgbClr val="F3F0DF"/>
              </a:solidFill>
              <a:latin typeface="Montserrat"/>
            </a:endParaRPr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6BCC7952-E7BD-87C1-C302-41315D43DE3D}"/>
              </a:ext>
            </a:extLst>
          </p:cNvPr>
          <p:cNvSpPr/>
          <p:nvPr/>
        </p:nvSpPr>
        <p:spPr>
          <a:xfrm>
            <a:off x="762000" y="571500"/>
            <a:ext cx="57150" cy="447675"/>
          </a:xfrm>
          <a:prstGeom prst="rect">
            <a:avLst/>
          </a:prstGeom>
          <a:solidFill>
            <a:srgbClr val="3A8FD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Education tree illustration">
            <a:extLst>
              <a:ext uri="{FF2B5EF4-FFF2-40B4-BE49-F238E27FC236}">
                <a16:creationId xmlns:a16="http://schemas.microsoft.com/office/drawing/2014/main" id="{EA600ACB-EBE7-614F-DDAA-E8C9E4EC5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1530" y="1561668"/>
            <a:ext cx="3870659" cy="394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35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0C4F3027-319C-B878-E7DE-13B8ADF48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109">
            <a:extLst>
              <a:ext uri="{FF2B5EF4-FFF2-40B4-BE49-F238E27FC236}">
                <a16:creationId xmlns:a16="http://schemas.microsoft.com/office/drawing/2014/main" id="{63F5877B-98C7-49DD-83AB-0F6F57CB6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B9E8208F-2B4C-B77A-975B-78E768355642}"/>
              </a:ext>
            </a:extLst>
          </p:cNvPr>
          <p:cNvPicPr preferRelativeResize="0"/>
          <p:nvPr/>
        </p:nvPicPr>
        <p:blipFill rotWithShape="1">
          <a:blip r:embed="rId3"/>
          <a:srcRect l="38397" r="22004"/>
          <a:stretch>
            <a:fillRect/>
          </a:stretch>
        </p:blipFill>
        <p:spPr>
          <a:xfrm>
            <a:off x="7364078" y="-18"/>
            <a:ext cx="4827922" cy="6857999"/>
          </a:xfrm>
          <a:custGeom>
            <a:avLst/>
            <a:gdLst/>
            <a:ahLst/>
            <a:cxnLst/>
            <a:rect l="l" t="t" r="r" b="b"/>
            <a:pathLst>
              <a:path w="4827922" h="6858000">
                <a:moveTo>
                  <a:pt x="4441" y="0"/>
                </a:moveTo>
                <a:lnTo>
                  <a:pt x="4827922" y="0"/>
                </a:lnTo>
                <a:lnTo>
                  <a:pt x="4827922" y="6858000"/>
                </a:lnTo>
                <a:lnTo>
                  <a:pt x="0" y="6858000"/>
                </a:lnTo>
                <a:lnTo>
                  <a:pt x="106674" y="6638378"/>
                </a:lnTo>
                <a:cubicBezTo>
                  <a:pt x="530028" y="5720938"/>
                  <a:pt x="777229" y="4614948"/>
                  <a:pt x="777229" y="3424428"/>
                </a:cubicBezTo>
                <a:cubicBezTo>
                  <a:pt x="777229" y="2233909"/>
                  <a:pt x="530028" y="1127919"/>
                  <a:pt x="106674" y="210478"/>
                </a:cubicBezTo>
                <a:close/>
              </a:path>
            </a:pathLst>
          </a:cu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3FF785-CECB-B768-EFCF-70C3123123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62" r="2584"/>
          <a:stretch>
            <a:fillRect/>
          </a:stretch>
        </p:blipFill>
        <p:spPr>
          <a:xfrm>
            <a:off x="3119360" y="18"/>
            <a:ext cx="4966290" cy="6857999"/>
          </a:xfrm>
          <a:custGeom>
            <a:avLst/>
            <a:gdLst/>
            <a:ahLst/>
            <a:cxnLst/>
            <a:rect l="l" t="t" r="r" b="b"/>
            <a:pathLst>
              <a:path w="4966290" h="6857999">
                <a:moveTo>
                  <a:pt x="0" y="0"/>
                </a:moveTo>
                <a:lnTo>
                  <a:pt x="4188230" y="0"/>
                </a:lnTo>
                <a:lnTo>
                  <a:pt x="4295735" y="210478"/>
                </a:lnTo>
                <a:cubicBezTo>
                  <a:pt x="4719089" y="1127919"/>
                  <a:pt x="4966290" y="2233909"/>
                  <a:pt x="4966290" y="3424428"/>
                </a:cubicBezTo>
                <a:cubicBezTo>
                  <a:pt x="4966290" y="4614948"/>
                  <a:pt x="4719089" y="5720938"/>
                  <a:pt x="4295735" y="6638378"/>
                </a:cubicBezTo>
                <a:lnTo>
                  <a:pt x="4183560" y="6857999"/>
                </a:lnTo>
                <a:lnTo>
                  <a:pt x="53039" y="6857999"/>
                </a:lnTo>
                <a:lnTo>
                  <a:pt x="132047" y="6695338"/>
                </a:lnTo>
                <a:cubicBezTo>
                  <a:pt x="555401" y="5777898"/>
                  <a:pt x="802602" y="4671908"/>
                  <a:pt x="802602" y="3481388"/>
                </a:cubicBezTo>
                <a:cubicBezTo>
                  <a:pt x="802602" y="2191659"/>
                  <a:pt x="512484" y="1001134"/>
                  <a:pt x="22579" y="42066"/>
                </a:cubicBezTo>
                <a:close/>
              </a:path>
            </a:pathLst>
          </a:custGeom>
        </p:spPr>
      </p:pic>
      <p:sp useBgFill="1">
        <p:nvSpPr>
          <p:cNvPr id="112" name="Freeform: Shape 111">
            <a:extLst>
              <a:ext uri="{FF2B5EF4-FFF2-40B4-BE49-F238E27FC236}">
                <a16:creationId xmlns:a16="http://schemas.microsoft.com/office/drawing/2014/main" id="{4EA91930-66BC-4C41-B4F5-C31EB216F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9" name="Freeform: Shape 108">
            <a:extLst>
              <a:ext uri="{FF2B5EF4-FFF2-40B4-BE49-F238E27FC236}">
                <a16:creationId xmlns:a16="http://schemas.microsoft.com/office/drawing/2014/main" id="{6313CF8F-B436-401E-9575-DE0F8E8B5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497C409C-D229-6541-ED27-860CB467053E}"/>
              </a:ext>
            </a:extLst>
          </p:cNvPr>
          <p:cNvSpPr txBox="1"/>
          <p:nvPr/>
        </p:nvSpPr>
        <p:spPr>
          <a:xfrm>
            <a:off x="448056" y="681038"/>
            <a:ext cx="2804504" cy="132556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Final Product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A38CFE9-C30A-4551-ACCB-D5808FBC3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16867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7EF550F-47CE-4FB2-9DAC-12AD835C8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160EE2A8-729A-D4ED-401B-5F1EC8E0B34C}"/>
              </a:ext>
            </a:extLst>
          </p:cNvPr>
          <p:cNvSpPr txBox="1"/>
          <p:nvPr/>
        </p:nvSpPr>
        <p:spPr>
          <a:xfrm>
            <a:off x="448056" y="2258171"/>
            <a:ext cx="2804504" cy="3918792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child inserts a ball into the system. The digital UI displays a math challenge based on the ball's color; finally, the child aims at the right or left directions and shoots to register that number as his answer.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app deducts health from Mojo Jojo's 10 HP bar, and the electromechanical lift auto-recycles the ball for continuous play.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362CBA52-C12C-947F-7C14-1D1A9693AC4D}"/>
              </a:ext>
            </a:extLst>
          </p:cNvPr>
          <p:cNvSpPr/>
          <p:nvPr/>
        </p:nvSpPr>
        <p:spPr>
          <a:xfrm>
            <a:off x="762000" y="571500"/>
            <a:ext cx="57150" cy="447675"/>
          </a:xfrm>
          <a:prstGeom prst="rect">
            <a:avLst/>
          </a:prstGeom>
          <a:solidFill>
            <a:srgbClr val="3A8FD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1359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2D"/>
        </a:solid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E707B49D-A5A6-A104-7640-3CB18B21A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>
            <a:extLst>
              <a:ext uri="{FF2B5EF4-FFF2-40B4-BE49-F238E27FC236}">
                <a16:creationId xmlns:a16="http://schemas.microsoft.com/office/drawing/2014/main" id="{EE190CAC-3D97-9345-535D-335AE330EF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5F5B485D-DAF1-817E-6EC7-521F1DAD31D1}"/>
              </a:ext>
            </a:extLst>
          </p:cNvPr>
          <p:cNvSpPr txBox="1"/>
          <p:nvPr/>
        </p:nvSpPr>
        <p:spPr>
          <a:xfrm>
            <a:off x="762000" y="2047875"/>
            <a:ext cx="6404610" cy="23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ublic Sans" panose="020B0604020202020204" charset="0"/>
              </a:rPr>
              <a:t>To summarize, "Help. Save Buttercup!" successfully bridges the gap between mechatronic engineering and early childhood education.</a:t>
            </a:r>
          </a:p>
          <a:p>
            <a:endParaRPr lang="en-US" dirty="0">
              <a:solidFill>
                <a:schemeClr val="bg1"/>
              </a:solidFill>
              <a:latin typeface="Public Sans" panose="020B0604020202020204" charset="0"/>
            </a:endParaRPr>
          </a:p>
          <a:p>
            <a:endParaRPr lang="en-US" dirty="0">
              <a:solidFill>
                <a:schemeClr val="bg1"/>
              </a:solidFill>
              <a:latin typeface="Public Sans" panose="020B0604020202020204" charset="0"/>
            </a:endParaRPr>
          </a:p>
          <a:p>
            <a:endParaRPr lang="en-US" dirty="0">
              <a:solidFill>
                <a:schemeClr val="bg1"/>
              </a:solidFill>
              <a:latin typeface="Public Sans" panose="020B0604020202020204" charset="0"/>
            </a:endParaRPr>
          </a:p>
          <a:p>
            <a:endParaRPr lang="en-US" dirty="0">
              <a:solidFill>
                <a:schemeClr val="bg1"/>
              </a:solidFill>
              <a:latin typeface="Public Sans" panose="020B060402020202020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Public Sans" panose="020B0604020202020204" charset="0"/>
              </a:rPr>
              <a:t>By automating the reset process and tying physical accuracy to a digital narrative, we have proven that foundational math practice can be as thrilling as defeating a supervillain.</a:t>
            </a:r>
          </a:p>
          <a:p>
            <a:r>
              <a:rPr lang="en-US" dirty="0"/>
              <a:t>.</a:t>
            </a:r>
          </a:p>
          <a:p>
            <a:pPr lvl="0"/>
            <a:endParaRPr dirty="0">
              <a:solidFill>
                <a:schemeClr val="bg1"/>
              </a:solidFill>
              <a:latin typeface="Public Sans" panose="020B0604020202020204" charset="0"/>
            </a:endParaRPr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4D43DD17-9BC3-75E6-632D-ADC51D87EFC4}"/>
              </a:ext>
            </a:extLst>
          </p:cNvPr>
          <p:cNvSpPr txBox="1"/>
          <p:nvPr/>
        </p:nvSpPr>
        <p:spPr>
          <a:xfrm>
            <a:off x="863346" y="571500"/>
            <a:ext cx="1095136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850" b="1" dirty="0">
                <a:solidFill>
                  <a:srgbClr val="F3F0DF"/>
                </a:solidFill>
                <a:latin typeface="Montserrat"/>
              </a:rPr>
              <a:t>Conclusion</a:t>
            </a:r>
            <a:endParaRPr sz="2850" b="1" dirty="0">
              <a:solidFill>
                <a:srgbClr val="F3F0DF"/>
              </a:solidFill>
              <a:latin typeface="Montserrat"/>
            </a:endParaRPr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F9AFF8F4-0337-A03E-58F4-61FA3BD2B6CE}"/>
              </a:ext>
            </a:extLst>
          </p:cNvPr>
          <p:cNvSpPr/>
          <p:nvPr/>
        </p:nvSpPr>
        <p:spPr>
          <a:xfrm>
            <a:off x="762000" y="571500"/>
            <a:ext cx="57150" cy="447675"/>
          </a:xfrm>
          <a:prstGeom prst="rect">
            <a:avLst/>
          </a:prstGeom>
          <a:solidFill>
            <a:srgbClr val="3A8FD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Conclusion vectors hi-res stock photography and images - Alamy">
            <a:extLst>
              <a:ext uri="{FF2B5EF4-FFF2-40B4-BE49-F238E27FC236}">
                <a16:creationId xmlns:a16="http://schemas.microsoft.com/office/drawing/2014/main" id="{CCB333F7-777D-C1A5-B736-0EE20A19B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822" y="1581582"/>
            <a:ext cx="26765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218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2D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 txBox="1"/>
          <p:nvPr/>
        </p:nvSpPr>
        <p:spPr>
          <a:xfrm>
            <a:off x="4920853" y="1618803"/>
            <a:ext cx="2350293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4A9E5C"/>
                </a:solidFill>
                <a:latin typeface="Montserrat"/>
                <a:ea typeface="Montserrat"/>
                <a:cs typeface="Montserrat"/>
                <a:sym typeface="Montserrat"/>
              </a:rPr>
              <a:t>Q&amp;A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4980860" y="2856160"/>
            <a:ext cx="223027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3F0DF"/>
                </a:solidFill>
                <a:latin typeface="Public Sans"/>
                <a:ea typeface="Public Sans"/>
                <a:cs typeface="Public Sans"/>
                <a:sym typeface="Public Sans"/>
              </a:rPr>
              <a:t>Buttercup is Saved!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2286000" y="3541960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1D8E0"/>
                </a:solidFill>
                <a:latin typeface="Public Sans"/>
                <a:ea typeface="Public Sans"/>
                <a:cs typeface="Public Sans"/>
                <a:sym typeface="Public Sans"/>
              </a:rPr>
              <a:t>Thank you for your attention. We are ready to discuss the mechanical, electrical, and software nuances of our automated ball sorting ecosystem.</a:t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4667250" y="5162847"/>
            <a:ext cx="762000" cy="76200"/>
          </a:xfrm>
          <a:prstGeom prst="rect">
            <a:avLst/>
          </a:prstGeom>
          <a:solidFill>
            <a:srgbClr val="E8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5715000" y="5162847"/>
            <a:ext cx="762000" cy="76200"/>
          </a:xfrm>
          <a:prstGeom prst="rect">
            <a:avLst/>
          </a:prstGeom>
          <a:solidFill>
            <a:srgbClr val="3A8FD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6762750" y="5162847"/>
            <a:ext cx="762000" cy="76200"/>
          </a:xfrm>
          <a:prstGeom prst="rect">
            <a:avLst/>
          </a:prstGeom>
          <a:solidFill>
            <a:srgbClr val="4A9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1200</Words>
  <Application>Microsoft Office PowerPoint</Application>
  <PresentationFormat>Widescreen</PresentationFormat>
  <Paragraphs>97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Montserrat</vt:lpstr>
      <vt:lpstr>Arial</vt:lpstr>
      <vt:lpstr>Roboto Mono</vt:lpstr>
      <vt:lpstr>Public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Yehia Mohammed Fawzy Ebrahim EMERA</cp:lastModifiedBy>
  <cp:revision>5</cp:revision>
  <dcterms:modified xsi:type="dcterms:W3CDTF">2026-06-11T05:22:50Z</dcterms:modified>
</cp:coreProperties>
</file>